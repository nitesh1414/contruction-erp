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160520"/>
            <a:ext cx="12191695" cy="269748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60520"/>
            <a:ext cx="12191695" cy="44450"/>
          </a:xfrm>
          <a:prstGeom prst="rect">
            <a:avLst/>
          </a:prstGeom>
          <a:solidFill>
            <a:srgbClr val="E8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434840"/>
            <a:ext cx="107899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E8651A"/>
                </a:solidFill>
                <a:latin typeface="Segoe UI"/>
              </a:rPr>
              <a:t>🏗️  CONSTRUCTION ERP</a:t>
            </a:r>
          </a:p>
          <a:p>
            <a:pPr algn="l"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Construction Project Tracking System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9FB0C7"/>
                </a:solidFill>
                <a:latin typeface="Segoe UI"/>
              </a:rPr>
              <a:t>One platform for site progress, materials, workforce, quality and billing — web, admin &amp; mobile.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38100"/>
          </a:xfrm>
          <a:prstGeom prst="rect">
            <a:avLst/>
          </a:prstGeom>
          <a:solidFill>
            <a:srgbClr val="E8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E8651A"/>
                </a:solidFill>
                <a:latin typeface="Segoe UI"/>
              </a:rPr>
              <a:t>WHY</a:t>
            </a:r>
          </a:p>
          <a:p>
            <a:pPr algn="l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Segoe UI"/>
              </a:rPr>
              <a:t>Construction runs on paper. It shouldn't.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3520440" cy="2011680"/>
          </a:xfrm>
          <a:prstGeom prst="rect">
            <a:avLst/>
          </a:prstGeom>
          <a:solidFill>
            <a:srgbClr val="F4F6F9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57399"/>
            <a:ext cx="31089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50" b="1">
                <a:solidFill>
                  <a:srgbClr val="0F1B2D"/>
                </a:solidFill>
                <a:latin typeface="Segoe UI"/>
              </a:rPr>
              <a:t>📋  Progress gets lost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5B6B80"/>
                </a:solidFill>
                <a:latin typeface="Segoe UI"/>
              </a:rPr>
              <a:t>Daily site updates live in WhatsApp chats &amp; notebooks — no history, no proof, no accountability.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1874519"/>
            <a:ext cx="3520440" cy="2011680"/>
          </a:xfrm>
          <a:prstGeom prst="rect">
            <a:avLst/>
          </a:prstGeom>
          <a:solidFill>
            <a:srgbClr val="F4F6F9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057399"/>
            <a:ext cx="31089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50" b="1">
                <a:solidFill>
                  <a:srgbClr val="0F1B2D"/>
                </a:solidFill>
                <a:latin typeface="Segoe UI"/>
              </a:rPr>
              <a:t>🧱  Materials leak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5B6B80"/>
                </a:solidFill>
                <a:latin typeface="Segoe UI"/>
              </a:rPr>
              <a:t>No live stock view; requirements, POs, receipts and consumption never reconcile. Pilferage goes unseen.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874519"/>
            <a:ext cx="3520440" cy="2011680"/>
          </a:xfrm>
          <a:prstGeom prst="rect">
            <a:avLst/>
          </a:prstGeom>
          <a:solidFill>
            <a:srgbClr val="F4F6F9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057399"/>
            <a:ext cx="31089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50" b="1">
                <a:solidFill>
                  <a:srgbClr val="0F1B2D"/>
                </a:solidFill>
                <a:latin typeface="Segoe UI"/>
              </a:rPr>
              <a:t>👷  Wage disputes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5B6B80"/>
                </a:solidFill>
                <a:latin typeface="Segoe UI"/>
              </a:rPr>
              <a:t>Attendance on registers, overtime by memory — labour payments are arguable and slow.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14799"/>
            <a:ext cx="3520440" cy="2011680"/>
          </a:xfrm>
          <a:prstGeom prst="rect">
            <a:avLst/>
          </a:prstGeom>
          <a:solidFill>
            <a:srgbClr val="F4F6F9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297679"/>
            <a:ext cx="31089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50" b="1">
                <a:solidFill>
                  <a:srgbClr val="0F1B2D"/>
                </a:solidFill>
                <a:latin typeface="Segoe UI"/>
              </a:rPr>
              <a:t>📄  Quality is reactive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5B6B80"/>
                </a:solidFill>
                <a:latin typeface="Segoe UI"/>
              </a:rPr>
              <a:t>Test reports and inspections surface after the damage, snags age without owners.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4114799"/>
            <a:ext cx="3520440" cy="2011680"/>
          </a:xfrm>
          <a:prstGeom prst="rect">
            <a:avLst/>
          </a:prstGeom>
          <a:solidFill>
            <a:srgbClr val="F4F6F9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4297679"/>
            <a:ext cx="31089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50" b="1">
                <a:solidFill>
                  <a:srgbClr val="0F1B2D"/>
                </a:solidFill>
                <a:latin typeface="Segoe UI"/>
              </a:rPr>
              <a:t>💰  Cost surprises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5B6B80"/>
                </a:solidFill>
                <a:latin typeface="Segoe UI"/>
              </a:rPr>
              <a:t>Budget vs actual is discovered at month-end in spreadsheets — far too late to act.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38100"/>
          </a:xfrm>
          <a:prstGeom prst="rect">
            <a:avLst/>
          </a:prstGeom>
          <a:solidFill>
            <a:srgbClr val="E8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E8651A"/>
                </a:solidFill>
                <a:latin typeface="Segoe UI"/>
              </a:rPr>
              <a:t>THE ANSWER</a:t>
            </a:r>
          </a:p>
          <a:p>
            <a:pPr algn="l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Segoe UI"/>
              </a:rPr>
              <a:t>Four apps. One source of truth.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5349240" cy="2194560"/>
          </a:xfrm>
          <a:prstGeom prst="rect">
            <a:avLst/>
          </a:prstGeom>
          <a:solidFill>
            <a:srgbClr val="F4F6F9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63500" cy="2194560"/>
          </a:xfrm>
          <a:prstGeom prst="rect">
            <a:avLst/>
          </a:prstGeom>
          <a:solidFill>
            <a:srgbClr val="E8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84248"/>
            <a:ext cx="48920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F1B2D"/>
                </a:solidFill>
                <a:latin typeface="Segoe UI"/>
              </a:rPr>
              <a:t>📱 Mobile app (Expo / RN)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5B6B80"/>
                </a:solidFill>
                <a:latin typeface="Segoe UI"/>
              </a:rPr>
              <a:t>Site engineers capture daily progress with GPS-tagged photos, mark attendance, raise issues — even offline. Syncs when the network returns.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83080"/>
            <a:ext cx="5349240" cy="2194560"/>
          </a:xfrm>
          <a:prstGeom prst="rect">
            <a:avLst/>
          </a:prstGeom>
          <a:solidFill>
            <a:srgbClr val="F4F6F9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783080"/>
            <a:ext cx="63500" cy="219456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84248"/>
            <a:ext cx="48920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F1B2D"/>
                </a:solidFill>
                <a:latin typeface="Segoe UI"/>
              </a:rPr>
              <a:t>💻 Web portal (React)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5B6B80"/>
                </a:solidFill>
                <a:latin typeface="Segoe UI"/>
              </a:rPr>
              <a:t>Project managers &amp; site teams plan structure, run materials required→PO→GRN→consume, track BOQ vs actual, billing, sales.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206240"/>
            <a:ext cx="5349240" cy="2194560"/>
          </a:xfrm>
          <a:prstGeom prst="rect">
            <a:avLst/>
          </a:prstGeom>
          <a:solidFill>
            <a:srgbClr val="F4F6F9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206240"/>
            <a:ext cx="63500" cy="2194560"/>
          </a:xfrm>
          <a:prstGeom prst="rect">
            <a:avLst/>
          </a:prstGeom>
          <a:solidFill>
            <a:srgbClr val="1C2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07408"/>
            <a:ext cx="48920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F1B2D"/>
                </a:solidFill>
                <a:latin typeface="Segoe UI"/>
              </a:rPr>
              <a:t>🛡️ Admin panel (React)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5B6B80"/>
                </a:solidFill>
                <a:latin typeface="Segoe UI"/>
              </a:rPr>
              <a:t>Admins control users, roles with a visual permission matrix, project-level access, master data, audit logs and broadcasts.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206240"/>
            <a:ext cx="5349240" cy="2194560"/>
          </a:xfrm>
          <a:prstGeom prst="rect">
            <a:avLst/>
          </a:prstGeom>
          <a:solidFill>
            <a:srgbClr val="F4F6F9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4206240"/>
            <a:ext cx="63500" cy="2194560"/>
          </a:xfrm>
          <a:prstGeom prst="rect">
            <a:avLst/>
          </a:prstGeom>
          <a:solidFill>
            <a:srgbClr val="1D9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407408"/>
            <a:ext cx="48920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F1B2D"/>
                </a:solidFill>
                <a:latin typeface="Segoe UI"/>
              </a:rPr>
              <a:t>⚙️ REST API + MySQL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5B6B80"/>
                </a:solidFill>
                <a:latin typeface="Segoe UI"/>
              </a:rPr>
              <a:t>Secure Express API: JWT + refresh rotation, RBAC, audit trail, rate limiting, file uploads. 55 tables with full referential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38100"/>
          </a:xfrm>
          <a:prstGeom prst="rect">
            <a:avLst/>
          </a:prstGeom>
          <a:solidFill>
            <a:srgbClr val="E8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E8651A"/>
                </a:solidFill>
                <a:latin typeface="Segoe UI"/>
              </a:rPr>
              <a:t>CAPABILITIES</a:t>
            </a:r>
          </a:p>
          <a:p>
            <a:pPr algn="l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Segoe UI"/>
              </a:rPr>
              <a:t>Everything a site team needs, end to 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783080"/>
            <a:ext cx="2697480" cy="4480560"/>
          </a:xfrm>
          <a:prstGeom prst="rect">
            <a:avLst/>
          </a:prstGeom>
          <a:solidFill>
            <a:srgbClr val="F4F6F9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2697480" cy="50800"/>
          </a:xfrm>
          <a:prstGeom prst="rect">
            <a:avLst/>
          </a:prstGeom>
          <a:solidFill>
            <a:srgbClr val="E8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965960"/>
            <a:ext cx="2331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1B2D"/>
                </a:solidFill>
                <a:latin typeface="Segoe UI"/>
              </a:rPr>
              <a:t>Execution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514600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250" b="1">
                <a:solidFill>
                  <a:srgbClr val="1D9D74"/>
                </a:solidFill>
                <a:latin typeface="Segoe UI"/>
              </a:rPr>
              <a:t>✔ </a:t>
            </a:r>
            <a:r>
              <a:rPr sz="1250">
                <a:solidFill>
                  <a:srgbClr val="1A2433"/>
                </a:solidFill>
                <a:latin typeface="Segoe UI"/>
              </a:rPr>
              <a:t>Daily progress + GPS photos</a:t>
            </a:r>
          </a:p>
          <a:p>
            <a:pPr>
              <a:spcAft>
                <a:spcPts val="1100"/>
              </a:spcAft>
            </a:pPr>
            <a:r>
              <a:rPr sz="1250" b="1">
                <a:solidFill>
                  <a:srgbClr val="1D9D74"/>
                </a:solidFill>
                <a:latin typeface="Segoe UI"/>
              </a:rPr>
              <a:t>✔ </a:t>
            </a:r>
            <a:r>
              <a:rPr sz="1250">
                <a:solidFill>
                  <a:srgbClr val="1A2433"/>
                </a:solidFill>
                <a:latin typeface="Segoe UI"/>
              </a:rPr>
              <a:t>Offline capture &amp; auto-sync</a:t>
            </a:r>
          </a:p>
          <a:p>
            <a:pPr>
              <a:spcAft>
                <a:spcPts val="1100"/>
              </a:spcAft>
            </a:pPr>
            <a:r>
              <a:rPr sz="1250" b="1">
                <a:solidFill>
                  <a:srgbClr val="1D9D74"/>
                </a:solidFill>
                <a:latin typeface="Segoe UI"/>
              </a:rPr>
              <a:t>✔ </a:t>
            </a:r>
            <a:r>
              <a:rPr sz="1250">
                <a:solidFill>
                  <a:srgbClr val="1A2433"/>
                </a:solidFill>
                <a:latin typeface="Segoe UI"/>
              </a:rPr>
              <a:t>Milestones &amp; auto-progress roll-up</a:t>
            </a:r>
          </a:p>
          <a:p>
            <a:pPr>
              <a:spcAft>
                <a:spcPts val="1100"/>
              </a:spcAft>
            </a:pPr>
            <a:r>
              <a:rPr sz="1250" b="1">
                <a:solidFill>
                  <a:srgbClr val="1D9D74"/>
                </a:solidFill>
                <a:latin typeface="Segoe UI"/>
              </a:rPr>
              <a:t>✔ </a:t>
            </a:r>
            <a:r>
              <a:rPr sz="1250">
                <a:solidFill>
                  <a:srgbClr val="1A2433"/>
                </a:solidFill>
                <a:latin typeface="Segoe UI"/>
              </a:rPr>
              <a:t>Drawings with revisions &amp; approval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355848" y="1783080"/>
            <a:ext cx="2697480" cy="4480560"/>
          </a:xfrm>
          <a:prstGeom prst="rect">
            <a:avLst/>
          </a:prstGeom>
          <a:solidFill>
            <a:srgbClr val="F4F6F9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55848" y="1783080"/>
            <a:ext cx="2697480" cy="50800"/>
          </a:xfrm>
          <a:prstGeom prst="rect">
            <a:avLst/>
          </a:prstGeom>
          <a:solidFill>
            <a:srgbClr val="E8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7016" y="1965960"/>
            <a:ext cx="2331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1B2D"/>
                </a:solidFill>
                <a:latin typeface="Segoe UI"/>
              </a:rPr>
              <a:t>Materials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7016" y="2514600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250" b="1">
                <a:solidFill>
                  <a:srgbClr val="1D9D74"/>
                </a:solidFill>
                <a:latin typeface="Segoe UI"/>
              </a:rPr>
              <a:t>✔ </a:t>
            </a:r>
            <a:r>
              <a:rPr sz="1250">
                <a:solidFill>
                  <a:srgbClr val="1A2433"/>
                </a:solidFill>
                <a:latin typeface="Segoe UI"/>
              </a:rPr>
              <a:t>Requirement → PO → GRN → Consume</a:t>
            </a:r>
          </a:p>
          <a:p>
            <a:pPr>
              <a:spcAft>
                <a:spcPts val="1100"/>
              </a:spcAft>
            </a:pPr>
            <a:r>
              <a:rPr sz="1250" b="1">
                <a:solidFill>
                  <a:srgbClr val="1D9D74"/>
                </a:solidFill>
                <a:latin typeface="Segoe UI"/>
              </a:rPr>
              <a:t>✔ </a:t>
            </a:r>
            <a:r>
              <a:rPr sz="1250">
                <a:solidFill>
                  <a:srgbClr val="1A2433"/>
                </a:solidFill>
                <a:latin typeface="Segoe UI"/>
              </a:rPr>
              <a:t>Stock ledger &amp; low-stock alerts</a:t>
            </a:r>
          </a:p>
          <a:p>
            <a:pPr>
              <a:spcAft>
                <a:spcPts val="1100"/>
              </a:spcAft>
            </a:pPr>
            <a:r>
              <a:rPr sz="1250" b="1">
                <a:solidFill>
                  <a:srgbClr val="1D9D74"/>
                </a:solidFill>
                <a:latin typeface="Segoe UI"/>
              </a:rPr>
              <a:t>✔ </a:t>
            </a:r>
            <a:r>
              <a:rPr sz="1250">
                <a:solidFill>
                  <a:srgbClr val="1A2433"/>
                </a:solidFill>
                <a:latin typeface="Segoe UI"/>
              </a:rPr>
              <a:t>Damaged / return tracking</a:t>
            </a:r>
          </a:p>
          <a:p>
            <a:pPr>
              <a:spcAft>
                <a:spcPts val="1100"/>
              </a:spcAft>
            </a:pPr>
            <a:r>
              <a:rPr sz="1250" b="1">
                <a:solidFill>
                  <a:srgbClr val="1D9D74"/>
                </a:solidFill>
                <a:latin typeface="Segoe UI"/>
              </a:rPr>
              <a:t>✔ </a:t>
            </a:r>
            <a:r>
              <a:rPr sz="1250">
                <a:solidFill>
                  <a:srgbClr val="1A2433"/>
                </a:solidFill>
                <a:latin typeface="Segoe UI"/>
              </a:rPr>
              <a:t>Supplier &amp; rate masters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1783080"/>
            <a:ext cx="2697480" cy="4480560"/>
          </a:xfrm>
          <a:prstGeom prst="rect">
            <a:avLst/>
          </a:prstGeom>
          <a:solidFill>
            <a:srgbClr val="F4F6F9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8776" y="1783080"/>
            <a:ext cx="2697480" cy="50800"/>
          </a:xfrm>
          <a:prstGeom prst="rect">
            <a:avLst/>
          </a:prstGeom>
          <a:solidFill>
            <a:srgbClr val="E8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1965960"/>
            <a:ext cx="2331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1B2D"/>
                </a:solidFill>
                <a:latin typeface="Segoe UI"/>
              </a:rPr>
              <a:t>People &amp; Quality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2514600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250" b="1">
                <a:solidFill>
                  <a:srgbClr val="1D9D74"/>
                </a:solidFill>
                <a:latin typeface="Segoe UI"/>
              </a:rPr>
              <a:t>✔ </a:t>
            </a:r>
            <a:r>
              <a:rPr sz="1250">
                <a:solidFill>
                  <a:srgbClr val="1A2433"/>
                </a:solidFill>
                <a:latin typeface="Segoe UI"/>
              </a:rPr>
              <a:t>Attendance + OT wage calc</a:t>
            </a:r>
          </a:p>
          <a:p>
            <a:pPr>
              <a:spcAft>
                <a:spcPts val="1100"/>
              </a:spcAft>
            </a:pPr>
            <a:r>
              <a:rPr sz="1250" b="1">
                <a:solidFill>
                  <a:srgbClr val="1D9D74"/>
                </a:solidFill>
                <a:latin typeface="Segoe UI"/>
              </a:rPr>
              <a:t>✔ </a:t>
            </a:r>
            <a:r>
              <a:rPr sz="1250">
                <a:solidFill>
                  <a:srgbClr val="1A2433"/>
                </a:solidFill>
                <a:latin typeface="Segoe UI"/>
              </a:rPr>
              <a:t>Labour payments from attendance</a:t>
            </a:r>
          </a:p>
          <a:p>
            <a:pPr>
              <a:spcAft>
                <a:spcPts val="1100"/>
              </a:spcAft>
            </a:pPr>
            <a:r>
              <a:rPr sz="1250" b="1">
                <a:solidFill>
                  <a:srgbClr val="1D9D74"/>
                </a:solidFill>
                <a:latin typeface="Segoe UI"/>
              </a:rPr>
              <a:t>✔ </a:t>
            </a:r>
            <a:r>
              <a:rPr sz="1250">
                <a:solidFill>
                  <a:srgbClr val="1A2433"/>
                </a:solidFill>
                <a:latin typeface="Segoe UI"/>
              </a:rPr>
              <a:t>Test reports with approval flow</a:t>
            </a:r>
          </a:p>
          <a:p>
            <a:pPr>
              <a:spcAft>
                <a:spcPts val="1100"/>
              </a:spcAft>
            </a:pPr>
            <a:r>
              <a:rPr sz="1250" b="1">
                <a:solidFill>
                  <a:srgbClr val="1D9D74"/>
                </a:solidFill>
                <a:latin typeface="Segoe UI"/>
              </a:rPr>
              <a:t>✔ </a:t>
            </a:r>
            <a:r>
              <a:rPr sz="1250">
                <a:solidFill>
                  <a:srgbClr val="1A2433"/>
                </a:solidFill>
                <a:latin typeface="Segoe UI"/>
              </a:rPr>
              <a:t>Checklist inspections, issues &amp; snags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61704" y="1783080"/>
            <a:ext cx="2697480" cy="4480560"/>
          </a:xfrm>
          <a:prstGeom prst="rect">
            <a:avLst/>
          </a:prstGeom>
          <a:solidFill>
            <a:srgbClr val="F4F6F9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61704" y="1783080"/>
            <a:ext cx="2697480" cy="50800"/>
          </a:xfrm>
          <a:prstGeom prst="rect">
            <a:avLst/>
          </a:prstGeom>
          <a:solidFill>
            <a:srgbClr val="E8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2872" y="1965960"/>
            <a:ext cx="2331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1B2D"/>
                </a:solidFill>
                <a:latin typeface="Segoe UI"/>
              </a:rPr>
              <a:t>Money &amp; Insight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2872" y="2514600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250" b="1">
                <a:solidFill>
                  <a:srgbClr val="1D9D74"/>
                </a:solidFill>
                <a:latin typeface="Segoe UI"/>
              </a:rPr>
              <a:t>✔ </a:t>
            </a:r>
            <a:r>
              <a:rPr sz="1250">
                <a:solidFill>
                  <a:srgbClr val="1A2433"/>
                </a:solidFill>
                <a:latin typeface="Segoe UI"/>
              </a:rPr>
              <a:t>BOQ: estimated vs actual, variance %</a:t>
            </a:r>
          </a:p>
          <a:p>
            <a:pPr>
              <a:spcAft>
                <a:spcPts val="1100"/>
              </a:spcAft>
            </a:pPr>
            <a:r>
              <a:rPr sz="1250" b="1">
                <a:solidFill>
                  <a:srgbClr val="1D9D74"/>
                </a:solidFill>
                <a:latin typeface="Segoe UI"/>
              </a:rPr>
              <a:t>✔ </a:t>
            </a:r>
            <a:r>
              <a:rPr sz="1250">
                <a:solidFill>
                  <a:srgbClr val="1A2433"/>
                </a:solidFill>
                <a:latin typeface="Segoe UI"/>
              </a:rPr>
              <a:t>Cost entries &amp; payment status</a:t>
            </a:r>
          </a:p>
          <a:p>
            <a:pPr>
              <a:spcAft>
                <a:spcPts val="1100"/>
              </a:spcAft>
            </a:pPr>
            <a:r>
              <a:rPr sz="1250" b="1">
                <a:solidFill>
                  <a:srgbClr val="1D9D74"/>
                </a:solidFill>
                <a:latin typeface="Segoe UI"/>
              </a:rPr>
              <a:t>✔ </a:t>
            </a:r>
            <a:r>
              <a:rPr sz="1250">
                <a:solidFill>
                  <a:srgbClr val="1A2433"/>
                </a:solidFill>
                <a:latin typeface="Segoe UI"/>
              </a:rPr>
              <a:t>Unit sales, GST &amp; collections</a:t>
            </a:r>
          </a:p>
          <a:p>
            <a:pPr>
              <a:spcAft>
                <a:spcPts val="1100"/>
              </a:spcAft>
            </a:pPr>
            <a:r>
              <a:rPr sz="1250" b="1">
                <a:solidFill>
                  <a:srgbClr val="1D9D74"/>
                </a:solidFill>
                <a:latin typeface="Segoe UI"/>
              </a:rPr>
              <a:t>✔ </a:t>
            </a:r>
            <a:r>
              <a:rPr sz="1250">
                <a:solidFill>
                  <a:srgbClr val="1A2433"/>
                </a:solidFill>
                <a:latin typeface="Segoe UI"/>
              </a:rPr>
              <a:t>16 ready reports, CSV export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eck-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0"/>
            <a:ext cx="528523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903720" y="0"/>
            <a:ext cx="38100" cy="6858000"/>
          </a:xfrm>
          <a:prstGeom prst="rect">
            <a:avLst/>
          </a:prstGeom>
          <a:solidFill>
            <a:srgbClr val="E8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5943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8651A"/>
                </a:solidFill>
                <a:latin typeface="Segoe UI"/>
              </a:rPr>
              <a:t>MOBILE-FIRST SITE CAPTURE</a:t>
            </a:r>
          </a:p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Segoe UI"/>
              </a:rPr>
              <a:t>Works where sites are — even offline.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31720"/>
            <a:ext cx="5852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50" b="1">
                <a:solidFill>
                  <a:srgbClr val="E8651A"/>
                </a:solidFill>
                <a:latin typeface="Segoe UI"/>
              </a:rPr>
              <a:t>▸ </a:t>
            </a:r>
            <a:r>
              <a:rPr sz="1550" b="1">
                <a:solidFill>
                  <a:srgbClr val="FFFFFF"/>
                </a:solidFill>
                <a:latin typeface="Segoe UI"/>
              </a:rPr>
              <a:t>Snap progress photos</a:t>
            </a:r>
            <a:r>
              <a:rPr sz="1400" b="0">
                <a:solidFill>
                  <a:srgbClr val="5B6B80"/>
                </a:solidFill>
                <a:latin typeface="Segoe UI"/>
              </a:rPr>
              <a:t> — every shot geo-tagged with GPS coordinates, timestamp and author.</a:t>
            </a:r>
          </a:p>
          <a:p>
            <a:pPr>
              <a:spcAft>
                <a:spcPts val="1400"/>
              </a:spcAft>
            </a:pPr>
            <a:r>
              <a:rPr sz="1550" b="1">
                <a:solidFill>
                  <a:srgbClr val="E8651A"/>
                </a:solidFill>
                <a:latin typeface="Segoe UI"/>
              </a:rPr>
              <a:t>▸ </a:t>
            </a:r>
            <a:r>
              <a:rPr sz="1550" b="1">
                <a:solidFill>
                  <a:srgbClr val="FFFFFF"/>
                </a:solidFill>
                <a:latin typeface="Segoe UI"/>
              </a:rPr>
              <a:t>Offline queue</a:t>
            </a:r>
            <a:r>
              <a:rPr sz="1400" b="0">
                <a:solidFill>
                  <a:srgbClr val="5B6B80"/>
                </a:solidFill>
                <a:latin typeface="Segoe UI"/>
              </a:rPr>
              <a:t> — reports &amp; issues saved on-device with duplicate-proof sync when back online.</a:t>
            </a:r>
          </a:p>
          <a:p>
            <a:pPr>
              <a:spcAft>
                <a:spcPts val="1400"/>
              </a:spcAft>
            </a:pPr>
            <a:r>
              <a:rPr sz="1550" b="1">
                <a:solidFill>
                  <a:srgbClr val="E8651A"/>
                </a:solidFill>
                <a:latin typeface="Segoe UI"/>
              </a:rPr>
              <a:t>▸ </a:t>
            </a:r>
            <a:r>
              <a:rPr sz="1550" b="1">
                <a:solidFill>
                  <a:srgbClr val="FFFFFF"/>
                </a:solidFill>
                <a:latin typeface="Segoe UI"/>
              </a:rPr>
              <a:t>Attendance in seconds</a:t>
            </a:r>
            <a:r>
              <a:rPr sz="1400" b="0">
                <a:solidFill>
                  <a:srgbClr val="5B6B80"/>
                </a:solidFill>
                <a:latin typeface="Segoe UI"/>
              </a:rPr>
              <a:t> — tap per worker, OT hours built-in, wages computed automatically.</a:t>
            </a:r>
          </a:p>
          <a:p>
            <a:pPr>
              <a:spcAft>
                <a:spcPts val="1400"/>
              </a:spcAft>
            </a:pPr>
            <a:r>
              <a:rPr sz="1550" b="1">
                <a:solidFill>
                  <a:srgbClr val="E8651A"/>
                </a:solidFill>
                <a:latin typeface="Segoe UI"/>
              </a:rPr>
              <a:t>▸ </a:t>
            </a:r>
            <a:r>
              <a:rPr sz="1550" b="1">
                <a:solidFill>
                  <a:srgbClr val="FFFFFF"/>
                </a:solidFill>
                <a:latin typeface="Segoe UI"/>
              </a:rPr>
              <a:t>Raise issues with photos</a:t>
            </a:r>
            <a:r>
              <a:rPr sz="1400" b="0">
                <a:solidFill>
                  <a:srgbClr val="5B6B80"/>
                </a:solidFill>
                <a:latin typeface="Segoe UI"/>
              </a:rPr>
              <a:t> — priority, due date and assignment notify the right people instantly.</a:t>
            </a:r>
          </a:p>
          <a:p>
            <a:pPr>
              <a:spcAft>
                <a:spcPts val="1400"/>
              </a:spcAft>
            </a:pPr>
            <a:r>
              <a:rPr sz="1550" b="1">
                <a:solidFill>
                  <a:srgbClr val="E8651A"/>
                </a:solidFill>
                <a:latin typeface="Segoe UI"/>
              </a:rPr>
              <a:t>▸ </a:t>
            </a:r>
            <a:r>
              <a:rPr sz="1550" b="1">
                <a:solidFill>
                  <a:srgbClr val="FFFFFF"/>
                </a:solidFill>
                <a:latin typeface="Segoe UI"/>
              </a:rPr>
              <a:t>Push notifications</a:t>
            </a:r>
            <a:r>
              <a:rPr sz="1400" b="0">
                <a:solidFill>
                  <a:srgbClr val="5B6B80"/>
                </a:solidFill>
                <a:latin typeface="Segoe UI"/>
              </a:rPr>
              <a:t> — approvals, assignments and low-stock alerts reach the pocket.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38100"/>
          </a:xfrm>
          <a:prstGeom prst="rect">
            <a:avLst/>
          </a:prstGeom>
          <a:solidFill>
            <a:srgbClr val="E8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E8651A"/>
                </a:solidFill>
                <a:latin typeface="Segoe UI"/>
              </a:rPr>
              <a:t>TRUST &amp; CONTROL</a:t>
            </a:r>
          </a:p>
          <a:p>
            <a:pPr algn="l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Segoe UI"/>
              </a:rPr>
              <a:t>Enterprise-grade security, built in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5349240" cy="1298448"/>
          </a:xfrm>
          <a:prstGeom prst="rect">
            <a:avLst/>
          </a:prstGeom>
          <a:solidFill>
            <a:srgbClr val="F4F6F9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11096"/>
            <a:ext cx="4937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F1B2D"/>
                </a:solidFill>
                <a:latin typeface="Segoe UI"/>
              </a:rPr>
              <a:t>🔐  JWT auth + rotating refresh tokens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B80"/>
                </a:solidFill>
                <a:latin typeface="Segoe UI"/>
              </a:rPr>
              <a:t>bcrypt-hashed passwords, revocable sessions, device tracking.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783080"/>
            <a:ext cx="5349240" cy="1298448"/>
          </a:xfrm>
          <a:prstGeom prst="rect">
            <a:avLst/>
          </a:prstGeom>
          <a:solidFill>
            <a:srgbClr val="F4F6F9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911096"/>
            <a:ext cx="4937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F1B2D"/>
                </a:solidFill>
                <a:latin typeface="Segoe UI"/>
              </a:rPr>
              <a:t>🧩  Fine-grained RBAC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B80"/>
                </a:solidFill>
                <a:latin typeface="Segoe UI"/>
              </a:rPr>
              <a:t>8 actions × 21 modules; 12 seeded roles from Super Admin to Quality Engineer — plus unlimited custom roles.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264408"/>
            <a:ext cx="5349240" cy="1298448"/>
          </a:xfrm>
          <a:prstGeom prst="rect">
            <a:avLst/>
          </a:prstGeom>
          <a:solidFill>
            <a:srgbClr val="F4F6F9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392424"/>
            <a:ext cx="4937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F1B2D"/>
                </a:solidFill>
                <a:latin typeface="Segoe UI"/>
              </a:rPr>
              <a:t>🗺️  Project-level access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B80"/>
                </a:solidFill>
                <a:latin typeface="Segoe UI"/>
              </a:rPr>
              <a:t>Engineers see only their projects — down to a single wing.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264408"/>
            <a:ext cx="5349240" cy="1298448"/>
          </a:xfrm>
          <a:prstGeom prst="rect">
            <a:avLst/>
          </a:prstGeom>
          <a:solidFill>
            <a:srgbClr val="F4F6F9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3392424"/>
            <a:ext cx="4937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F1B2D"/>
                </a:solidFill>
                <a:latin typeface="Segoe UI"/>
              </a:rPr>
              <a:t>🧾  Audit trail everywhere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B80"/>
                </a:solidFill>
                <a:latin typeface="Segoe UI"/>
              </a:rPr>
              <a:t>Every create / edit / delete recorded with old &amp; new values, user and IP.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745736"/>
            <a:ext cx="5349240" cy="1298448"/>
          </a:xfrm>
          <a:prstGeom prst="rect">
            <a:avLst/>
          </a:prstGeom>
          <a:solidFill>
            <a:srgbClr val="F4F6F9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873752"/>
            <a:ext cx="4937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F1B2D"/>
                </a:solidFill>
                <a:latin typeface="Segoe UI"/>
              </a:rPr>
              <a:t>🚧  Hardened API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B80"/>
                </a:solidFill>
                <a:latin typeface="Segoe UI"/>
              </a:rPr>
              <a:t>Parameterized SQL only, rate limiting, helmet headers, upload type &amp; size validation.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745736"/>
            <a:ext cx="5349240" cy="1298448"/>
          </a:xfrm>
          <a:prstGeom prst="rect">
            <a:avLst/>
          </a:prstGeom>
          <a:solidFill>
            <a:srgbClr val="F4F6F9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873752"/>
            <a:ext cx="4937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F1B2D"/>
                </a:solidFill>
                <a:latin typeface="Segoe UI"/>
              </a:rPr>
              <a:t>📤  Controlled files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B80"/>
                </a:solidFill>
                <a:latin typeface="Segoe UI"/>
              </a:rPr>
              <a:t>Photos &amp; documents served only after auth + project-scope checks.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38100"/>
          </a:xfrm>
          <a:prstGeom prst="rect">
            <a:avLst/>
          </a:prstGeom>
          <a:solidFill>
            <a:srgbClr val="E8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E8651A"/>
                </a:solidFill>
                <a:latin typeface="Segoe UI"/>
              </a:rPr>
              <a:t>UNDER THE HOOD</a:t>
            </a:r>
          </a:p>
          <a:p>
            <a:pPr algn="l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Segoe UI"/>
              </a:rPr>
              <a:t>Proven stack, real numbers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3520440" cy="141732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29384"/>
            <a:ext cx="30175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E8651A"/>
                </a:solidFill>
                <a:latin typeface="Segoe UI"/>
              </a:rPr>
              <a:t>55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Segoe UI"/>
              </a:rPr>
              <a:t>MySQL tables with FKs &amp; indexes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1783080"/>
            <a:ext cx="3520440" cy="1417320"/>
          </a:xfrm>
          <a:prstGeom prst="rect">
            <a:avLst/>
          </a:prstGeom>
          <a:solidFill>
            <a:srgbClr val="1C2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2" y="1929384"/>
            <a:ext cx="30175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E8651A"/>
                </a:solidFill>
                <a:latin typeface="Segoe UI"/>
              </a:rPr>
              <a:t>150+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Segoe UI"/>
              </a:rPr>
              <a:t>REST endpoints across 20 modules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783080"/>
            <a:ext cx="3520440" cy="141732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929384"/>
            <a:ext cx="30175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E8651A"/>
                </a:solidFill>
                <a:latin typeface="Segoe UI"/>
              </a:rPr>
              <a:t>4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Segoe UI"/>
              </a:rPr>
              <a:t>apps: API, web, admin, mobile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83280"/>
            <a:ext cx="3520440" cy="1417320"/>
          </a:xfrm>
          <a:prstGeom prst="rect">
            <a:avLst/>
          </a:prstGeom>
          <a:solidFill>
            <a:srgbClr val="1C2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529584"/>
            <a:ext cx="30175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E8651A"/>
                </a:solidFill>
                <a:latin typeface="Segoe UI"/>
              </a:rPr>
              <a:t>16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Segoe UI"/>
              </a:rPr>
              <a:t>built-in operational reports w/ CSV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3383280"/>
            <a:ext cx="3520440" cy="141732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3529584"/>
            <a:ext cx="30175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E8651A"/>
                </a:solidFill>
                <a:latin typeface="Segoe UI"/>
              </a:rPr>
              <a:t>12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Segoe UI"/>
              </a:rPr>
              <a:t>seeded roles + custom role builder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3383280"/>
            <a:ext cx="3520440" cy="1417320"/>
          </a:xfrm>
          <a:prstGeom prst="rect">
            <a:avLst/>
          </a:prstGeom>
          <a:solidFill>
            <a:srgbClr val="1C2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3529584"/>
            <a:ext cx="30175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E8651A"/>
                </a:solidFill>
                <a:latin typeface="Segoe UI"/>
              </a:rPr>
              <a:t>100%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Segoe UI"/>
              </a:rPr>
              <a:t>offline-capable mobile capture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120640"/>
            <a:ext cx="108813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A2433"/>
                </a:solidFill>
                <a:latin typeface="Segoe UI"/>
              </a:rPr>
              <a:t>Node.js + Express  •  MySQL 8 (mysql2, raw SQL — no ORM)  •  React 18 + Vite + TypeScript  •  React Native / Expo SDK 54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5B6B80"/>
                </a:solidFill>
                <a:latin typeface="Segoe UI"/>
              </a:rPr>
              <a:t>JWT + bcryptjs  •  multer uploads  •  GitHub Actions CI with MySQL service (migrate → seed → smoke test on every push)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E8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b="1">
                <a:solidFill>
                  <a:srgbClr val="E8651A"/>
                </a:solidFill>
                <a:latin typeface="Segoe UI"/>
              </a:rPr>
              <a:t>READY WHEN YOUR SITE IS</a:t>
            </a:r>
          </a:p>
          <a:p>
            <a:pPr algn="l">
              <a:spcAft>
                <a:spcPts val="1400"/>
              </a:spcAft>
            </a:pPr>
            <a:r>
              <a:rPr sz="4400" b="1">
                <a:solidFill>
                  <a:srgbClr val="FFFFFF"/>
                </a:solidFill>
                <a:latin typeface="Segoe UI"/>
              </a:rPr>
              <a:t>Break ground in a day.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9FB0C7"/>
                </a:solidFill>
                <a:latin typeface="Segoe UI"/>
              </a:rPr>
              <a:t>Clone the repo, run npm run db:setup, log in — and your first project is on the system before the mixer arrives.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github.com/nitesh1414/Contruction-ERP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CONSTRUCTION ERP — track every brick, every rupee, every day.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